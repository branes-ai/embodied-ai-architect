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1" r:id="rId12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YOUR AUTONOMY RUNS ON
SOMEONE ELSE'S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1828800" cy="38100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>
                <a:solidFill>
                  <a:srgbClr val="CCCCCC"/>
                </a:solidFill>
                <a:latin typeface="Calibri"/>
              </a:rPr>
              <a:t>—  Their highest-volume market isn't yours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CCCCCC"/>
                </a:solidFill>
                <a:latin typeface="Calibri"/>
              </a:rPr>
              <a:t>—  Allocation shortages strand programs overnight</a:t>
            </a:r>
          </a:p>
          <a:p>
            <a:pPr>
              <a:spcAft>
                <a:spcPts val="1200"/>
              </a:spcAft>
            </a:pPr>
            <a:r>
              <a:rPr sz="2400">
                <a:solidFill>
                  <a:srgbClr val="CCCCCC"/>
                </a:solidFill>
                <a:latin typeface="Calibri"/>
              </a:rPr>
              <a:t>—  Export controls redraw the map without warning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84D3D"/>
                </a:solidFill>
                <a:latin typeface="Calibri"/>
              </a:rPr>
              <a:t>If you don't own the silicon strategy, you don't own the autonomy.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THE GAP IS GETTING WORSE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0" cy="38100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4D3D"/>
                </a:solidFill>
                <a:latin typeface="Calibri"/>
              </a:rPr>
              <a:t>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5W drone
30W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88899"/>
                </a:solidFill>
                <a:latin typeface="Calibri"/>
              </a:rPr>
              <a:t>Workloads growing
Scaling slowing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5603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D9BE9"/>
                </a:solidFill>
                <a:latin typeface="Calibri"/>
              </a:rPr>
              <a:t>GEOPOLITICS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200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2 countries fab
advanced silicon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88899"/>
                </a:solidFill>
                <a:latin typeface="Calibri"/>
              </a:rPr>
              <a:t>Export controls
expanding yearly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5603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EC9B0"/>
                </a:solidFill>
                <a:latin typeface="Calibri"/>
              </a:rPr>
              <a:t>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200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$50 chip creates
$500 system penalty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5720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88899"/>
                </a:solidFill>
                <a:latin typeface="Calibri"/>
              </a:rPr>
              <a:t>Competitors won't
overpay forever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DESCRIBE THE MISSION.
GET THE SILICON.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377440"/>
            <a:ext cx="1828800" cy="38100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88899"/>
                </a:solidFill>
                <a:latin typeface="Calibri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CCCC"/>
                </a:solidFill>
                <a:latin typeface="Calibri"/>
              </a:rPr>
              <a:t>"Delivery drone, visual SLAM +
 detection, 30fps, under 5 watts"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36576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E84D3D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88899"/>
                </a:solidFill>
                <a:latin typeface="Calibri"/>
              </a:rP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383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Validated SoC architecture
with synthesizable Verilog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9BE9"/>
                </a:solidFill>
                <a:latin typeface="Calibri"/>
              </a:rPr>
              <a:t>Workload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88899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9BE9"/>
                </a:solidFill>
                <a:latin typeface="Calibri"/>
              </a:rPr>
              <a:t>Architecture Exploration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88899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9BE9"/>
                </a:solidFill>
                <a:latin typeface="Calibri"/>
              </a:rPr>
              <a:t>Constraint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88899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5120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D9BE9"/>
                </a:solidFill>
                <a:latin typeface="Calibri"/>
              </a:rPr>
              <a:t>RTL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4D3D"/>
                </a:solidFill>
                <a:latin typeface="Calibri"/>
              </a:rPr>
              <a:t>One engineer.  One afternoon.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IT WORKS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828800" cy="38100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3017520" cy="2926080"/>
          </a:xfrm>
          <a:prstGeom prst="round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4D3D"/>
                </a:solidFill>
                <a:latin typeface="Calibri"/>
              </a:rPr>
              <a:t>DRONE SoC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Auto-optimized to
all-PASS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480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9BE9"/>
                </a:solidFill>
                <a:latin typeface="Calibri"/>
              </a:rPr>
              <a:t>1.5 sec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77440"/>
            <a:ext cx="3017520" cy="2926080"/>
          </a:xfrm>
          <a:prstGeom prst="round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4D3D"/>
                </a:solidFill>
                <a:latin typeface="Calibri"/>
              </a:rPr>
              <a:t>QUADRUPED SoC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4 concurrent workloads
Pareto-ranked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480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9BE9"/>
                </a:solidFill>
                <a:latin typeface="Calibri"/>
              </a:rPr>
              <a:t>&lt; 2 sec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377440"/>
            <a:ext cx="3017520" cy="2926080"/>
          </a:xfrm>
          <a:prstGeom prst="round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6517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4D3D"/>
                </a:solidFill>
                <a:latin typeface="Calibri"/>
              </a:rPr>
              <a:t>RTL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291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Synthesizable Verilog
verified with Yosys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480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9BE9"/>
                </a:solidFill>
                <a:latin typeface="Calibri"/>
              </a:rPr>
              <a:t>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88899"/>
                </a:solidFill>
                <a:latin typeface="Calibri"/>
              </a:rPr>
              <a:t>50+ COTS platforms profiled  ·  Custom accelerator RTL  ·  No cloud dependency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OWN THE COMPUTE.
OWN THE AUTONOMY.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377440"/>
            <a:ext cx="1828800" cy="38100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3017520" cy="2286000"/>
          </a:xfrm>
          <a:prstGeom prst="round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9BE9"/>
                </a:solidFill>
                <a:latin typeface="Calibri"/>
              </a:rPr>
              <a:t>EVALUATE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474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2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1148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CCCC"/>
                </a:solidFill>
                <a:latin typeface="Calibri"/>
              </a:rPr>
              <a:t>Your workloads on
COTS + custom targets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356616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888899"/>
                </a:solidFill>
                <a:latin typeface="Calibri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017520" cy="2286000"/>
          </a:xfrm>
          <a:prstGeom prst="round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9BE9"/>
                </a:solidFill>
                <a:latin typeface="Calibri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74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8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1148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CCCC"/>
                </a:solidFill>
                <a:latin typeface="Calibri"/>
              </a:rPr>
              <a:t>Validated SoC
architecture with RTL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56616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888899"/>
                </a:solidFill>
                <a:latin typeface="Calibri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743200"/>
            <a:ext cx="3017520" cy="2286000"/>
          </a:xfrm>
          <a:prstGeom prst="round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D9BE9"/>
                </a:solidFill>
                <a:latin typeface="Calibri"/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474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12 weeks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1148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CCCC"/>
                </a:solidFill>
                <a:latin typeface="Calibri"/>
              </a:rPr>
              <a:t>Pre-silicon validation
tape-out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Next step:  2-week evaluation sprint.
You bring models.  We bring the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YOU HAVE THREE OPTIONS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828800" cy="38100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3017520" cy="2560320"/>
          </a:xfrm>
          <a:prstGeom prst="round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800" b="1">
                <a:solidFill>
                  <a:srgbClr val="E84D3D"/>
                </a:solidFill>
                <a:latin typeface="Calibri"/>
              </a:rPr>
              <a:t>01</a:t>
            </a:r>
          </a:p>
          <a:p>
            <a:pPr algn="l">
              <a:spcBef>
                <a:spcPts val="10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Wait for the roadmap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CCCCCC"/>
                </a:solidFill>
                <a:latin typeface="Calibri"/>
              </a:rPr>
              <a:t>You ship when they ship. If they ship.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77440"/>
            <a:ext cx="3017520" cy="2560320"/>
          </a:xfrm>
          <a:prstGeom prst="round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800" b="1">
                <a:solidFill>
                  <a:srgbClr val="E84D3D"/>
                </a:solidFill>
                <a:latin typeface="Calibri"/>
              </a:rPr>
              <a:t>02</a:t>
            </a:r>
          </a:p>
          <a:p>
            <a:pPr algn="l">
              <a:spcBef>
                <a:spcPts val="10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Throw money at it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CCCCCC"/>
                </a:solidFill>
                <a:latin typeface="Calibri"/>
              </a:rPr>
              <a:t>Overpay today, repeat next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377440"/>
            <a:ext cx="3017520" cy="2560320"/>
          </a:xfrm>
          <a:prstGeom prst="round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800" b="1">
                <a:solidFill>
                  <a:srgbClr val="3D9BE9"/>
                </a:solidFill>
                <a:latin typeface="Calibri"/>
              </a:rPr>
              <a:t>03</a:t>
            </a:r>
          </a:p>
          <a:p>
            <a:pPr algn="l">
              <a:spcBef>
                <a:spcPts val="10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Design your own compute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CCCCCC"/>
                </a:solidFill>
                <a:latin typeface="Calibri"/>
              </a:rPr>
              <a:t>Match silicon to mission, own the trajectory.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888899"/>
                </a:solidFill>
                <a:latin typeface="Calibri"/>
              </a:rPr>
              <a:t>Option 3 used to take 50 engineers and 18 months.  </a:t>
            </a:r>
            <a:r>
              <a:rPr sz="2200" b="1">
                <a:solidFill>
                  <a:srgbClr val="FFFFFF"/>
                </a:solidFill>
                <a:latin typeface="Calibri"/>
              </a:rPr>
              <a:t>It doesn't anymore.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